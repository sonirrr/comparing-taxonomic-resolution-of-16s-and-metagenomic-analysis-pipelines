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Montserrat"/>
      <p:regular r:id="rId47"/>
      <p:bold r:id="rId48"/>
      <p:italic r:id="rId49"/>
      <p:boldItalic r:id="rId50"/>
    </p:embeddedFont>
    <p:embeddedFont>
      <p:font typeface="Lat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-bold.fntdata"/><Relationship Id="rId47" Type="http://schemas.openxmlformats.org/officeDocument/2006/relationships/font" Target="fonts/Montserrat-regular.fntdata"/><Relationship Id="rId49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ato-regular.fntdata"/><Relationship Id="rId50" Type="http://schemas.openxmlformats.org/officeDocument/2006/relationships/font" Target="fonts/Montserrat-boldItalic.fntdata"/><Relationship Id="rId53" Type="http://schemas.openxmlformats.org/officeDocument/2006/relationships/font" Target="fonts/Lato-italic.fntdata"/><Relationship Id="rId52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strobiomike.github.io/misc/amplicon_and_metagen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csciences.com/services/dna-sequencing/16s-rrna-gene-sequencing/microbiome-analysis/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d4ea2a1c9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d4ea2a1c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Microbial communities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Collected from a variety fo environments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Dna extracted for sequencing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d4ea2a1c9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d4ea2a1c9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https://astrobiomike.github.io/misc/amplicon_and_metagen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</a:t>
            </a:r>
            <a:r>
              <a:rPr lang="en"/>
              <a:t>would</a:t>
            </a:r>
            <a:r>
              <a:rPr lang="en"/>
              <a:t> we do one vs the other?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d4ea2a1c9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d4ea2a1c9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https://lcsciences.com/services/dna-sequencing/16s-rrna-gene-sequencing/microbiome-analysis/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cf1264c74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cf1264c74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these two different sequencing techniques compare? Looking specifically their </a:t>
            </a:r>
            <a:r>
              <a:rPr lang="en"/>
              <a:t>resolution, the data we’re able to pull out, etc etc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applications to the field of metagenomics (why we would do one versus the other, things to keep in mind as you’re choosing a research technique)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cf1264c749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cf1264c74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 issue common correlated with Autism Spectrum Disorder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author’s research question here was, is autism spectrum disorder correlated with changes in the gut microbiome of children?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took fecal samples from children with and without autism spectrum disorder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16s data on all 143 subjects (range of ages from 3 to 13)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 subset (60, 30 with and without) who had constipation issues, they also did metagenomic sequencing and analysis on the fecal samples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found that there was a small difference in the microbiome between the two groups, with some of the variable groups of bacteria associated with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Metabolism (they posit some interaction between the gut microbiome, metabolism, and neurotransmitters)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had two goals: can we recreate their figures? Can we compare our 16s analysis to our metagenomic analysis?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make sure to note that our metagenomic pipeline only worked on 10 out of 60 samples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d81fe5d5b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d81fe5d5b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d81fe5d5b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d81fe5d5b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d4ea2a1c9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d4ea2a1c9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Ampliconequence variants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d81fe5d5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d81fe5d5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d81fe5d5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d81fe5d5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d81fe5d5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ad81fe5d5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d81fe5d5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d81fe5d5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this is not assembly-based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Initially wanted to use megahit, but the galaxy browser did not have any of the tools available for getting phylogenetic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as you’ll see, it was representative but we did also use the output table uploaded by the authors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d81fe5d5b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d81fe5d5b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these two different sequencing techniques compare? Looking specifically their resolution, the data we’re able to pull out, etc etc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applications to the field of metagenomics (why we would do one versus the other, things to keep in mind as you’re choosing a research technique)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d81fe5d5b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d81fe5d5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Taken from Figure 3 (put on slide)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picture: our pipeline is working (even with a different pipeline)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d8b5a556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d8b5a556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Taken from Figure 3 (put on slide)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picture: our pipeline is working (even with a different pipeline)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d8b5a556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d8b5a556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d8b5a5560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d8b5a5560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Taken from Figure 3 (put on slide)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picture: our pipeline is working (even with a different pipeline)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d8b5a556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d8b5a556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 and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Taken from Figure 3 (put on slide)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picture: our pipeline is working (even with a different pipeline)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d81fe5d5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d81fe5d5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Taken from Figure 3 (put on slide)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picture: our pipeline is working (even with a different pipeline)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d81fe5d5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d81fe5d5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Taken from Figure 3 (put on slide)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picture: our pipeline is working (even with a different pipeline)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d8b5a556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ad8b5a556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 1B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Taken from Figure 3 (put on slide)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picture: our pipeline is working (even with a different pipeline)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d81fe5d5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d81fe5d5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d81fe5d5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ad81fe5d5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Metagenomic 1:1 figures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d8b5a556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ad8b5a556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these two different sequencing techniques compare? Looking specifically their resolution, the data we’re able to pull out, etc etc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applications to the field of metagenomics (why we would do one versus the other, things to keep in mind as you’re choosing a research technique)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d81fe5d5b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ad81fe5d5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Takeaway: these are 1-1 recreations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they had better documentation, we would have recreated more figures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d81fe5d5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ad81fe5d5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Takeaway: these are 1-1 recreations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they had better documentation, we would have recreated more figures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d8b5a556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d8b5a556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these two different sequencing techniques compare? Looking specifically their resolution, the data we’re able to pull out, etc etc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applications to the field of metagenomics (why we would do one versus the other, things to keep in mind as you’re choosing a research technique)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d81fe5d5b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ad81fe5d5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Stacked bar chart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 and beta diversity (metric of xyz)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Higher diversity from metagenomic than 16s (this is what we expected)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PCOA - measure of beta diversity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Different in microbial communities between each sample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Better separated in metagenomic compared to 16s (if not, this is a reason why people still use 16s)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time: sample size discussion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d81fe5d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ad81fe5d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Stacked bar chart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 and beta diversity (metric of xyz)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Higher diversity from metagenomic than 16s (this is what we expected)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PCOA - measure of beta diversity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Different in microbial communities between each sample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Better separated in metagenomic compared to 16s (if not, this is a reason why people still use 16s)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time: sample size discussion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d81fe5d5b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ad81fe5d5b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Crop simpson index 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Stacked bar chart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 and beta diversity (metric of xyz)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Higher diversity from metagenomic than 16s (this is what we expected)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PCOA - measure of beta diversity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Different in microbial communities between each sample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Better separated in metagenomic compared to 16s (if not, this is a reason why people still use 16s)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time: sample size discussion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d81fe5d5b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ad81fe5d5b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Crop simpson index 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Stacked bar chart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 and beta diversity (metric of xyz)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Higher diversity from metagenomic than 16s (this is what we expected)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PCOA - measure of beta diversity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Different in microbial communities between each sample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Better separated in metagenomic compared to 16s (if not, this is a reason why people still use 16s)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time: sample size discussion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d81fe5d5b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ad81fe5d5b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Crop simpson index 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Stacked bar chart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 and beta diversity (metric of xyz)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Higher diversity from metagenomic than 16s (this is what we expected)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PCOA - measure of beta diversity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Different in microbial communities between each sample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Better separated in metagenomic compared to 16s (if not, this is a reason why people still use 16s)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time: sample size discussion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ad81fe5d5b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ad81fe5d5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Stacked bar chart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 and beta diversity (metric of xyz)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Higher diversity from metagenomic than 16s (this is what we expected)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PCOA - measure of beta diversity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Different in microbial communities between each sample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Better separated in metagenomic compared to 16s (if not, this is a reason why people still use 16s)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time: sample size discussion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d81fe5d5b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ad81fe5d5b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Stacked bar chart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 and beta diversity (metric of xyz)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Higher diversity from metagenomic than 16s (this is what we expected)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PCOA - measure of beta diversity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Different in microbial communities between each sample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Better separated in metagenomic compared to 16s (if not, this is a reason why people still use 16s)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time: sample size discussion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d81fe5d5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ad81fe5d5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Stacked bar chart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 and beta diversity (metric of xyz)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Higher diversity from metagenomic than 16s (this is what we expected)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PCOA - measure of beta diversity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Different in microbial communities between each sample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Better separated in metagenomic compared to 16s (if not, this is a reason why people still use 16s)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time: sample size discussion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ad81fe5d5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ad81fe5d5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Bring back to alpha and beta diversity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pro but only depending on your experiment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d81fe5d5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ad81fe5d5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d4ea2a1c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ad4ea2a1c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issue in the field – metagenomics analysis methods sections are TOO SPARSE (github published to compensate)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ad81fe5d5b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ad81fe5d5b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issue in the field – metagenomics analysis methods sections are TOO SPARSE (github published to compensate)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cf1264c749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cf1264c74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1" name="Google Shape;11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/>
          <p:nvPr/>
        </p:nvSpPr>
        <p:spPr>
          <a:xfrm rot="5400000">
            <a:off x="7500300" y="5"/>
            <a:ext cx="1643700" cy="1643700"/>
          </a:xfrm>
          <a:prstGeom prst="diagStripe">
            <a:avLst>
              <a:gd fmla="val 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5"/>
          <p:cNvSpPr txBox="1"/>
          <p:nvPr/>
        </p:nvSpPr>
        <p:spPr>
          <a:xfrm>
            <a:off x="1409625" y="1455425"/>
            <a:ext cx="37395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Except where otherwise indicated, The contents of this slide presentation are available for use under the </a:t>
            </a:r>
            <a:r>
              <a:rPr lang="en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license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You are free to adapt and share the work, but you must give appropriate credit, provide a link to the license, and indicate if changes were made.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Sample attribution: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[Title of work] by Johns Hopkins Data Science Lab. </a:t>
            </a:r>
            <a:r>
              <a:rPr lang="en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 4.0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5" name="Google Shape;5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726" y="2173675"/>
            <a:ext cx="2275450" cy="7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807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1800">
                <a:solidFill>
                  <a:srgbClr val="66666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43237" y="4724428"/>
            <a:ext cx="428721" cy="393609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2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12070" y="511484"/>
            <a:ext cx="57168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taxonomic resolution of 16s and metagenomic pipelines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Ryleigh Griffin and Rishi Soni</a:t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2036" y="4438370"/>
            <a:ext cx="173736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 rotWithShape="1">
          <a:blip r:embed="rId4">
            <a:alphaModFix/>
          </a:blip>
          <a:srcRect b="0" l="0" r="49282" t="0"/>
          <a:stretch/>
        </p:blipFill>
        <p:spPr>
          <a:xfrm>
            <a:off x="3190986" y="4438375"/>
            <a:ext cx="162875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5">
            <a:alphaModFix/>
          </a:blip>
          <a:srcRect b="31358" l="12137" r="11039" t="29487"/>
          <a:stretch/>
        </p:blipFill>
        <p:spPr>
          <a:xfrm>
            <a:off x="4963854" y="4438365"/>
            <a:ext cx="2164078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172" y="347175"/>
            <a:ext cx="7582426" cy="45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250" y="156775"/>
            <a:ext cx="7241375" cy="482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16S Sequencing</a:t>
            </a: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543342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823850" y="2053000"/>
            <a:ext cx="60942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16s and metagenomic sequencing </a:t>
            </a:r>
            <a:r>
              <a:rPr lang="en"/>
              <a:t>compare?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contains both 16s and metagenomic data</a:t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075" y="1711700"/>
            <a:ext cx="7823523" cy="312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16s Pipeline - Paper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131581" y="1653426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FLASH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1131581" y="2535358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QIIME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1161748" y="3455445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UChime/UParse/RDP classifier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4256856" y="1668510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Merge reads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4256856" y="2535371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Estimate richness index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4256851" y="3455445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Additional processing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7" name="Google Shape;177;p19"/>
          <p:cNvCxnSpPr/>
          <p:nvPr/>
        </p:nvCxnSpPr>
        <p:spPr>
          <a:xfrm>
            <a:off x="3092381" y="2060170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19"/>
          <p:cNvCxnSpPr/>
          <p:nvPr/>
        </p:nvCxnSpPr>
        <p:spPr>
          <a:xfrm>
            <a:off x="3092381" y="2980245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19"/>
          <p:cNvCxnSpPr/>
          <p:nvPr/>
        </p:nvCxnSpPr>
        <p:spPr>
          <a:xfrm>
            <a:off x="6217656" y="2060170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19"/>
          <p:cNvCxnSpPr/>
          <p:nvPr/>
        </p:nvCxnSpPr>
        <p:spPr>
          <a:xfrm>
            <a:off x="6217656" y="3031269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16s Pipeline - Paper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1131581" y="1653426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FLASH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131581" y="2535358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QIIME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161748" y="3455445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UChime/UParse/RDP classifier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256856" y="1668510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Merge reads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256856" y="2535371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Estimate richness index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256851" y="3455445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Additional processing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>
            <a:off x="3092381" y="2060170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0"/>
          <p:cNvCxnSpPr/>
          <p:nvPr/>
        </p:nvCxnSpPr>
        <p:spPr>
          <a:xfrm>
            <a:off x="3092381" y="2980245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0"/>
          <p:cNvCxnSpPr/>
          <p:nvPr/>
        </p:nvCxnSpPr>
        <p:spPr>
          <a:xfrm>
            <a:off x="6217656" y="2060170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6217656" y="3031269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2579300" y="1689350"/>
            <a:ext cx="1056000" cy="407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0"/>
          <p:cNvCxnSpPr/>
          <p:nvPr/>
        </p:nvCxnSpPr>
        <p:spPr>
          <a:xfrm flipH="1" rot="10800000">
            <a:off x="2669791" y="1719558"/>
            <a:ext cx="935100" cy="331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16S Pipeline - Our Reproduction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60076" y="1804262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DADA2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860076" y="2686194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890243" y="3606281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3985351" y="1819346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Reads to ASV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7" name="Google Shape;207;p21"/>
          <p:cNvCxnSpPr/>
          <p:nvPr/>
        </p:nvCxnSpPr>
        <p:spPr>
          <a:xfrm>
            <a:off x="2820876" y="2211006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1"/>
          <p:cNvCxnSpPr/>
          <p:nvPr/>
        </p:nvCxnSpPr>
        <p:spPr>
          <a:xfrm>
            <a:off x="5946151" y="2211006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21"/>
          <p:cNvSpPr txBox="1"/>
          <p:nvPr/>
        </p:nvSpPr>
        <p:spPr>
          <a:xfrm>
            <a:off x="3985351" y="2712807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985351" y="3606257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890251" y="2601929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PhyloSeq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985351" y="2601929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Organizes Data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16S Pipeline - Our Reproduction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890243" y="3606281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3985351" y="3606257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0" name="Google Shape;220;p22"/>
          <p:cNvCxnSpPr/>
          <p:nvPr/>
        </p:nvCxnSpPr>
        <p:spPr>
          <a:xfrm>
            <a:off x="2126775" y="1794958"/>
            <a:ext cx="1357500" cy="482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2"/>
          <p:cNvCxnSpPr/>
          <p:nvPr/>
        </p:nvCxnSpPr>
        <p:spPr>
          <a:xfrm flipH="1" rot="10800000">
            <a:off x="2141875" y="1780083"/>
            <a:ext cx="1327500" cy="527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2" name="Google Shape;2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84251"/>
            <a:ext cx="9144002" cy="100704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860076" y="1804262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DADA2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860076" y="2686194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3985351" y="1819346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Reads to ASV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6" name="Google Shape;226;p22"/>
          <p:cNvCxnSpPr/>
          <p:nvPr/>
        </p:nvCxnSpPr>
        <p:spPr>
          <a:xfrm>
            <a:off x="2820876" y="2211006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2"/>
          <p:cNvCxnSpPr/>
          <p:nvPr/>
        </p:nvCxnSpPr>
        <p:spPr>
          <a:xfrm>
            <a:off x="5946151" y="2211006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22"/>
          <p:cNvSpPr txBox="1"/>
          <p:nvPr/>
        </p:nvSpPr>
        <p:spPr>
          <a:xfrm>
            <a:off x="3985351" y="2712807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890251" y="2601929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PhyloSeq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3985351" y="2601929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Organizes Data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Metagenomic Pipeline - Paper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1131581" y="1653426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SOAPdenovo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1131581" y="2535358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CD-HIT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1161748" y="3455445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DIAMOND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4256856" y="1668510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Assemble reads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4256856" y="2535371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Remove redundant genes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4256851" y="3455445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Align against reference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2" name="Google Shape;242;p23"/>
          <p:cNvCxnSpPr/>
          <p:nvPr/>
        </p:nvCxnSpPr>
        <p:spPr>
          <a:xfrm>
            <a:off x="3092381" y="2060170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23"/>
          <p:cNvCxnSpPr/>
          <p:nvPr/>
        </p:nvCxnSpPr>
        <p:spPr>
          <a:xfrm>
            <a:off x="3092381" y="2980245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23"/>
          <p:cNvCxnSpPr/>
          <p:nvPr/>
        </p:nvCxnSpPr>
        <p:spPr>
          <a:xfrm>
            <a:off x="6217656" y="2060170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3"/>
          <p:cNvCxnSpPr/>
          <p:nvPr/>
        </p:nvCxnSpPr>
        <p:spPr>
          <a:xfrm>
            <a:off x="6217656" y="3031269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Metagenomic Pipeline - Paper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1131581" y="1653426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SOAPdenovo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1131581" y="2535358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CD-HIT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1161748" y="3455445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DIAMOND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4256856" y="1668510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Assemble reads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4256856" y="2535371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Remove redundant genes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4256851" y="3455445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Align against reference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7" name="Google Shape;257;p24"/>
          <p:cNvCxnSpPr/>
          <p:nvPr/>
        </p:nvCxnSpPr>
        <p:spPr>
          <a:xfrm>
            <a:off x="3092381" y="2060170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4"/>
          <p:cNvCxnSpPr/>
          <p:nvPr/>
        </p:nvCxnSpPr>
        <p:spPr>
          <a:xfrm>
            <a:off x="3092381" y="2980245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24"/>
          <p:cNvCxnSpPr/>
          <p:nvPr/>
        </p:nvCxnSpPr>
        <p:spPr>
          <a:xfrm>
            <a:off x="6217656" y="2060170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24"/>
          <p:cNvCxnSpPr/>
          <p:nvPr/>
        </p:nvCxnSpPr>
        <p:spPr>
          <a:xfrm>
            <a:off x="6217656" y="3031269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24"/>
          <p:cNvSpPr/>
          <p:nvPr/>
        </p:nvSpPr>
        <p:spPr>
          <a:xfrm>
            <a:off x="2247450" y="1653418"/>
            <a:ext cx="1719600" cy="390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" name="Google Shape;262;p24"/>
          <p:cNvSpPr txBox="1"/>
          <p:nvPr/>
        </p:nvSpPr>
        <p:spPr>
          <a:xfrm rot="-1013448">
            <a:off x="1321024" y="1185049"/>
            <a:ext cx="1538469" cy="3903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Not meant for metagenomics?</a:t>
            </a:r>
            <a:endParaRPr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Metagenomic Pipeline - Our reproduction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860076" y="1804262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Kraken2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860076" y="2686194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Bracken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890243" y="3606281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kraken-biom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3985351" y="1819346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Classifies reads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2" name="Google Shape;272;p25"/>
          <p:cNvCxnSpPr/>
          <p:nvPr/>
        </p:nvCxnSpPr>
        <p:spPr>
          <a:xfrm>
            <a:off x="2820876" y="2211006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25"/>
          <p:cNvCxnSpPr/>
          <p:nvPr/>
        </p:nvCxnSpPr>
        <p:spPr>
          <a:xfrm>
            <a:off x="2820876" y="3131081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25"/>
          <p:cNvCxnSpPr/>
          <p:nvPr/>
        </p:nvCxnSpPr>
        <p:spPr>
          <a:xfrm>
            <a:off x="5946151" y="2211006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25"/>
          <p:cNvSpPr txBox="1"/>
          <p:nvPr/>
        </p:nvSpPr>
        <p:spPr>
          <a:xfrm>
            <a:off x="3985351" y="2712807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Estimates abundance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3985351" y="3606257"/>
            <a:ext cx="3936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Ready for analysis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7" name="Google Shape;277;p25"/>
          <p:cNvCxnSpPr/>
          <p:nvPr/>
        </p:nvCxnSpPr>
        <p:spPr>
          <a:xfrm>
            <a:off x="5946151" y="3131081"/>
            <a:ext cx="153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25"/>
          <p:cNvSpPr txBox="1"/>
          <p:nvPr/>
        </p:nvSpPr>
        <p:spPr>
          <a:xfrm>
            <a:off x="0" y="4558500"/>
            <a:ext cx="6159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Due to computing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power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limitations, only a subset (10 out of 60) of the dataset was processed this way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"/>
          <p:cNvSpPr txBox="1"/>
          <p:nvPr>
            <p:ph type="title"/>
          </p:nvPr>
        </p:nvSpPr>
        <p:spPr>
          <a:xfrm>
            <a:off x="823850" y="2053000"/>
            <a:ext cx="60942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reproduce published figures?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16s OTU Distribution</a:t>
            </a:r>
            <a:endParaRPr/>
          </a:p>
        </p:txBody>
      </p:sp>
      <p:pic>
        <p:nvPicPr>
          <p:cNvPr id="289" name="Google Shape;289;p27" title="Screenshot 2025-12-05 at 6.54.44 AM.png"/>
          <p:cNvPicPr preferRelativeResize="0"/>
          <p:nvPr/>
        </p:nvPicPr>
        <p:blipFill rotWithShape="1">
          <a:blip r:embed="rId3">
            <a:alphaModFix/>
          </a:blip>
          <a:srcRect b="14577" l="4577" r="53963" t="14556"/>
          <a:stretch/>
        </p:blipFill>
        <p:spPr>
          <a:xfrm>
            <a:off x="824350" y="1606050"/>
            <a:ext cx="2495151" cy="250225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317375" y="4289300"/>
            <a:ext cx="18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Figure 1A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16s OTU Distribution</a:t>
            </a:r>
            <a:endParaRPr/>
          </a:p>
        </p:txBody>
      </p:sp>
      <p:pic>
        <p:nvPicPr>
          <p:cNvPr id="296" name="Google Shape;296;p28" title="Screenshot 2025-12-05 at 6.54.44 AM.png"/>
          <p:cNvPicPr preferRelativeResize="0"/>
          <p:nvPr/>
        </p:nvPicPr>
        <p:blipFill rotWithShape="1">
          <a:blip r:embed="rId3">
            <a:alphaModFix/>
          </a:blip>
          <a:srcRect b="14577" l="4577" r="53963" t="14556"/>
          <a:stretch/>
        </p:blipFill>
        <p:spPr>
          <a:xfrm>
            <a:off x="824350" y="1606050"/>
            <a:ext cx="2495151" cy="250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8"/>
          <p:cNvPicPr preferRelativeResize="0"/>
          <p:nvPr/>
        </p:nvPicPr>
        <p:blipFill rotWithShape="1">
          <a:blip r:embed="rId4">
            <a:alphaModFix/>
          </a:blip>
          <a:srcRect b="-6337" l="0" r="0" t="0"/>
          <a:stretch/>
        </p:blipFill>
        <p:spPr>
          <a:xfrm>
            <a:off x="4336750" y="1606051"/>
            <a:ext cx="4001776" cy="26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8"/>
          <p:cNvSpPr txBox="1"/>
          <p:nvPr/>
        </p:nvSpPr>
        <p:spPr>
          <a:xfrm>
            <a:off x="2984700" y="4406500"/>
            <a:ext cx="615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Differences may be attributable to artifacts from 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rarefaction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" name="Google Shape;299;p28"/>
          <p:cNvSpPr txBox="1"/>
          <p:nvPr/>
        </p:nvSpPr>
        <p:spPr>
          <a:xfrm>
            <a:off x="317375" y="4289300"/>
            <a:ext cx="18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Figure 1A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9" title="Screenshot 2025-12-05 at 7.35.41 AM.png"/>
          <p:cNvPicPr preferRelativeResize="0"/>
          <p:nvPr/>
        </p:nvPicPr>
        <p:blipFill rotWithShape="1">
          <a:blip r:embed="rId3">
            <a:alphaModFix/>
          </a:blip>
          <a:srcRect b="0" l="0" r="1623" t="0"/>
          <a:stretch/>
        </p:blipFill>
        <p:spPr>
          <a:xfrm>
            <a:off x="0" y="1425525"/>
            <a:ext cx="4117925" cy="3717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9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Rarefaction</a:t>
            </a:r>
            <a:endParaRPr/>
          </a:p>
        </p:txBody>
      </p:sp>
      <p:sp>
        <p:nvSpPr>
          <p:cNvPr id="306" name="Google Shape;306;p29"/>
          <p:cNvSpPr txBox="1"/>
          <p:nvPr/>
        </p:nvSpPr>
        <p:spPr>
          <a:xfrm>
            <a:off x="4753800" y="1307850"/>
            <a:ext cx="42081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Used to normalize the read-depth across samples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“Controversial” for 16S 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microbial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community analysis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Authors likely performed some analyses before rarefying and some after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Authors </a:t>
            </a: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only uploaded rarefied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OTU table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-391539" y="4817250"/>
            <a:ext cx="1854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Figure S1A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16s OTU Distribution</a:t>
            </a:r>
            <a:endParaRPr/>
          </a:p>
        </p:txBody>
      </p:sp>
      <p:pic>
        <p:nvPicPr>
          <p:cNvPr id="313" name="Google Shape;313;p30" title="Screenshot 2025-12-05 at 6.54.44 AM.png"/>
          <p:cNvPicPr preferRelativeResize="0"/>
          <p:nvPr/>
        </p:nvPicPr>
        <p:blipFill rotWithShape="1">
          <a:blip r:embed="rId3">
            <a:alphaModFix/>
          </a:blip>
          <a:srcRect b="14577" l="4577" r="53963" t="14556"/>
          <a:stretch/>
        </p:blipFill>
        <p:spPr>
          <a:xfrm>
            <a:off x="824350" y="1606050"/>
            <a:ext cx="2495151" cy="250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 rotWithShape="1">
          <a:blip r:embed="rId4">
            <a:alphaModFix/>
          </a:blip>
          <a:srcRect b="-6337" l="0" r="0" t="0"/>
          <a:stretch/>
        </p:blipFill>
        <p:spPr>
          <a:xfrm>
            <a:off x="4336750" y="1606051"/>
            <a:ext cx="4001776" cy="26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0"/>
          <p:cNvSpPr txBox="1"/>
          <p:nvPr/>
        </p:nvSpPr>
        <p:spPr>
          <a:xfrm>
            <a:off x="2984700" y="4406500"/>
            <a:ext cx="615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Differences may be attributable to artifacts from rarefaction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6" name="Google Shape;316;p30"/>
          <p:cNvSpPr txBox="1"/>
          <p:nvPr/>
        </p:nvSpPr>
        <p:spPr>
          <a:xfrm>
            <a:off x="317375" y="4289300"/>
            <a:ext cx="18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Figure 1A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- Richness</a:t>
            </a:r>
            <a:endParaRPr/>
          </a:p>
        </p:txBody>
      </p:sp>
      <p:sp>
        <p:nvSpPr>
          <p:cNvPr id="322" name="Google Shape;322;p31"/>
          <p:cNvSpPr txBox="1"/>
          <p:nvPr/>
        </p:nvSpPr>
        <p:spPr>
          <a:xfrm>
            <a:off x="0" y="4558500"/>
            <a:ext cx="287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Fig 1B and 1C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23" name="Google Shape;323;p31" title="Screenshot 2025-12-05 at 6.54.44 AM.png"/>
          <p:cNvPicPr preferRelativeResize="0"/>
          <p:nvPr/>
        </p:nvPicPr>
        <p:blipFill rotWithShape="1">
          <a:blip r:embed="rId3">
            <a:alphaModFix/>
          </a:blip>
          <a:srcRect b="0" l="46749" r="0" t="0"/>
          <a:stretch/>
        </p:blipFill>
        <p:spPr>
          <a:xfrm>
            <a:off x="0" y="1252832"/>
            <a:ext cx="3027924" cy="3336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- Richness</a:t>
            </a:r>
            <a:endParaRPr/>
          </a:p>
        </p:txBody>
      </p:sp>
      <p:sp>
        <p:nvSpPr>
          <p:cNvPr id="329" name="Google Shape;329;p32"/>
          <p:cNvSpPr txBox="1"/>
          <p:nvPr/>
        </p:nvSpPr>
        <p:spPr>
          <a:xfrm>
            <a:off x="4770525" y="3542625"/>
            <a:ext cx="2876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Our best recreation - simple richness (# unique genera/phyla)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0" name="Google Shape;330;p32"/>
          <p:cNvPicPr preferRelativeResize="0"/>
          <p:nvPr/>
        </p:nvPicPr>
        <p:blipFill rotWithShape="1">
          <a:blip r:embed="rId3">
            <a:alphaModFix/>
          </a:blip>
          <a:srcRect b="0" l="0" r="18837" t="0"/>
          <a:stretch/>
        </p:blipFill>
        <p:spPr>
          <a:xfrm>
            <a:off x="6146105" y="1307850"/>
            <a:ext cx="2997896" cy="2282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2"/>
          <p:cNvPicPr preferRelativeResize="0"/>
          <p:nvPr/>
        </p:nvPicPr>
        <p:blipFill rotWithShape="1">
          <a:blip r:embed="rId4">
            <a:alphaModFix/>
          </a:blip>
          <a:srcRect b="5873" l="0" r="16881" t="0"/>
          <a:stretch/>
        </p:blipFill>
        <p:spPr>
          <a:xfrm>
            <a:off x="3190325" y="1533374"/>
            <a:ext cx="2793375" cy="19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- Richness</a:t>
            </a:r>
            <a:endParaRPr/>
          </a:p>
        </p:txBody>
      </p:sp>
      <p:sp>
        <p:nvSpPr>
          <p:cNvPr id="337" name="Google Shape;337;p33"/>
          <p:cNvSpPr txBox="1"/>
          <p:nvPr/>
        </p:nvSpPr>
        <p:spPr>
          <a:xfrm>
            <a:off x="0" y="4558500"/>
            <a:ext cx="2876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They claim to have used “Breakaway” - must have un-rarefied data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" name="Google Shape;338;p33"/>
          <p:cNvSpPr txBox="1"/>
          <p:nvPr/>
        </p:nvSpPr>
        <p:spPr>
          <a:xfrm>
            <a:off x="4770525" y="3542625"/>
            <a:ext cx="2876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Our best recreation - simple richness (# unique genera/phyla)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9" name="Google Shape;339;p33" title="Screenshot 2025-12-05 at 6.54.44 AM.png"/>
          <p:cNvPicPr preferRelativeResize="0"/>
          <p:nvPr/>
        </p:nvPicPr>
        <p:blipFill rotWithShape="1">
          <a:blip r:embed="rId3">
            <a:alphaModFix/>
          </a:blip>
          <a:srcRect b="0" l="46749" r="0" t="0"/>
          <a:stretch/>
        </p:blipFill>
        <p:spPr>
          <a:xfrm>
            <a:off x="0" y="1252832"/>
            <a:ext cx="3027924" cy="3336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3"/>
          <p:cNvPicPr preferRelativeResize="0"/>
          <p:nvPr/>
        </p:nvPicPr>
        <p:blipFill rotWithShape="1">
          <a:blip r:embed="rId4">
            <a:alphaModFix/>
          </a:blip>
          <a:srcRect b="0" l="0" r="18837" t="0"/>
          <a:stretch/>
        </p:blipFill>
        <p:spPr>
          <a:xfrm>
            <a:off x="6146105" y="1307850"/>
            <a:ext cx="2997896" cy="2282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3"/>
          <p:cNvPicPr preferRelativeResize="0"/>
          <p:nvPr/>
        </p:nvPicPr>
        <p:blipFill rotWithShape="1">
          <a:blip r:embed="rId5">
            <a:alphaModFix/>
          </a:blip>
          <a:srcRect b="5873" l="0" r="16881" t="0"/>
          <a:stretch/>
        </p:blipFill>
        <p:spPr>
          <a:xfrm>
            <a:off x="3190325" y="1533374"/>
            <a:ext cx="2793375" cy="19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Beta Diversity - Bray Curtis</a:t>
            </a:r>
            <a:endParaRPr/>
          </a:p>
        </p:txBody>
      </p:sp>
      <p:pic>
        <p:nvPicPr>
          <p:cNvPr id="347" name="Google Shape;347;p34" title="Screenshot 2025-12-05 at 6.57.2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525" y="1363376"/>
            <a:ext cx="3353863" cy="295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1400" y="1577251"/>
            <a:ext cx="4326264" cy="267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4"/>
          <p:cNvSpPr txBox="1"/>
          <p:nvPr/>
        </p:nvSpPr>
        <p:spPr>
          <a:xfrm>
            <a:off x="0" y="4558500"/>
            <a:ext cx="287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Fig S1B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5" title="Screenshot 2025-12-05 at 6.54.4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018051" cy="3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5" title="Screenshot 2025-12-05 at 6.57.2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0451" y="152400"/>
            <a:ext cx="2821148" cy="248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5"/>
          <p:cNvPicPr preferRelativeResize="0"/>
          <p:nvPr/>
        </p:nvPicPr>
        <p:blipFill rotWithShape="1">
          <a:blip r:embed="rId5">
            <a:alphaModFix/>
          </a:blip>
          <a:srcRect b="0" l="0" r="18837" t="0"/>
          <a:stretch/>
        </p:blipFill>
        <p:spPr>
          <a:xfrm>
            <a:off x="4801700" y="3452250"/>
            <a:ext cx="2289649" cy="17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/>
          <p:cNvPicPr preferRelativeResize="0"/>
          <p:nvPr/>
        </p:nvPicPr>
        <p:blipFill rotWithShape="1">
          <a:blip r:embed="rId6">
            <a:alphaModFix/>
          </a:blip>
          <a:srcRect b="0" l="0" r="16881" t="0"/>
          <a:stretch/>
        </p:blipFill>
        <p:spPr>
          <a:xfrm>
            <a:off x="2668250" y="3530850"/>
            <a:ext cx="2133451" cy="158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" y="3530850"/>
            <a:ext cx="2289636" cy="14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91350" y="3616469"/>
            <a:ext cx="2289649" cy="1414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 title="Screenshot 2025-12-05 at 7.16.04 AM.png"/>
          <p:cNvPicPr preferRelativeResize="0"/>
          <p:nvPr/>
        </p:nvPicPr>
        <p:blipFill rotWithShape="1">
          <a:blip r:embed="rId3">
            <a:alphaModFix/>
          </a:blip>
          <a:srcRect b="0" l="49362" r="33915" t="6950"/>
          <a:stretch/>
        </p:blipFill>
        <p:spPr>
          <a:xfrm>
            <a:off x="2834725" y="1755750"/>
            <a:ext cx="1529149" cy="274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4">
            <a:alphaModFix/>
          </a:blip>
          <a:srcRect b="0" l="0" r="55593" t="0"/>
          <a:stretch/>
        </p:blipFill>
        <p:spPr>
          <a:xfrm>
            <a:off x="4761225" y="2405900"/>
            <a:ext cx="1356349" cy="188744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/>
          <p:nvPr>
            <p:ph type="title"/>
          </p:nvPr>
        </p:nvSpPr>
        <p:spPr>
          <a:xfrm>
            <a:off x="1449900" y="5461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Recreated Metagenomic Fig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7"/>
          <p:cNvSpPr txBox="1"/>
          <p:nvPr>
            <p:ph type="title"/>
          </p:nvPr>
        </p:nvSpPr>
        <p:spPr>
          <a:xfrm>
            <a:off x="823850" y="2053000"/>
            <a:ext cx="4892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Metagenomic Analysis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8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size influences metagenomic analysis results</a:t>
            </a:r>
            <a:endParaRPr/>
          </a:p>
        </p:txBody>
      </p:sp>
      <p:pic>
        <p:nvPicPr>
          <p:cNvPr id="377" name="Google Shape;37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1" y="2050725"/>
            <a:ext cx="3929175" cy="24280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8"/>
          <p:cNvSpPr txBox="1"/>
          <p:nvPr/>
        </p:nvSpPr>
        <p:spPr>
          <a:xfrm>
            <a:off x="859775" y="4478750"/>
            <a:ext cx="22476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Relative abundance plot based on paper data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9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size influences metagenomic analysis results</a:t>
            </a:r>
            <a:endParaRPr/>
          </a:p>
        </p:txBody>
      </p:sp>
      <p:pic>
        <p:nvPicPr>
          <p:cNvPr id="384" name="Google Shape;3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701" y="2050719"/>
            <a:ext cx="3929175" cy="2428031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9"/>
          <p:cNvSpPr txBox="1"/>
          <p:nvPr/>
        </p:nvSpPr>
        <p:spPr>
          <a:xfrm>
            <a:off x="5461800" y="4478750"/>
            <a:ext cx="22476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Subset of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data - our analysis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" name="Google Shape;386;p39"/>
          <p:cNvSpPr txBox="1"/>
          <p:nvPr/>
        </p:nvSpPr>
        <p:spPr>
          <a:xfrm>
            <a:off x="784350" y="4508924"/>
            <a:ext cx="22476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Relative abundance plot based on paper data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87" name="Google Shape;387;p39"/>
          <p:cNvGrpSpPr/>
          <p:nvPr/>
        </p:nvGrpSpPr>
        <p:grpSpPr>
          <a:xfrm>
            <a:off x="311348" y="2044729"/>
            <a:ext cx="4066052" cy="2440026"/>
            <a:chOff x="4571998" y="1634779"/>
            <a:chExt cx="4066052" cy="2440026"/>
          </a:xfrm>
        </p:grpSpPr>
        <p:pic>
          <p:nvPicPr>
            <p:cNvPr id="388" name="Google Shape;388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71998" y="1634779"/>
              <a:ext cx="3948599" cy="24400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9"/>
            <p:cNvSpPr txBox="1"/>
            <p:nvPr/>
          </p:nvSpPr>
          <p:spPr>
            <a:xfrm>
              <a:off x="7921650" y="3202200"/>
              <a:ext cx="716400" cy="139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Other</a:t>
              </a:r>
              <a:endParaRPr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0"/>
          <p:cNvSpPr txBox="1"/>
          <p:nvPr>
            <p:ph type="title"/>
          </p:nvPr>
        </p:nvSpPr>
        <p:spPr>
          <a:xfrm>
            <a:off x="823850" y="2053000"/>
            <a:ext cx="4892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 Comparison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/>
          <p:nvPr>
            <p:ph type="title"/>
          </p:nvPr>
        </p:nvSpPr>
        <p:spPr>
          <a:xfrm>
            <a:off x="1297500" y="288165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Community Composition</a:t>
            </a:r>
            <a:endParaRPr/>
          </a:p>
        </p:txBody>
      </p:sp>
      <p:pic>
        <p:nvPicPr>
          <p:cNvPr id="400" name="Google Shape;40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00" y="1584650"/>
            <a:ext cx="4110799" cy="254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1"/>
          <p:cNvSpPr txBox="1"/>
          <p:nvPr/>
        </p:nvSpPr>
        <p:spPr>
          <a:xfrm>
            <a:off x="799425" y="4215425"/>
            <a:ext cx="22476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16s Abundance (phylum)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"/>
          <p:cNvSpPr txBox="1"/>
          <p:nvPr>
            <p:ph type="title"/>
          </p:nvPr>
        </p:nvSpPr>
        <p:spPr>
          <a:xfrm>
            <a:off x="1297500" y="273081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Community Composition</a:t>
            </a:r>
            <a:endParaRPr/>
          </a:p>
        </p:txBody>
      </p:sp>
      <p:pic>
        <p:nvPicPr>
          <p:cNvPr id="407" name="Google Shape;40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00" y="1584650"/>
            <a:ext cx="4110799" cy="254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8" name="Google Shape;408;p42"/>
          <p:cNvGrpSpPr/>
          <p:nvPr/>
        </p:nvGrpSpPr>
        <p:grpSpPr>
          <a:xfrm>
            <a:off x="4571998" y="1634779"/>
            <a:ext cx="4066052" cy="2440026"/>
            <a:chOff x="4571998" y="1634779"/>
            <a:chExt cx="4066052" cy="2440026"/>
          </a:xfrm>
        </p:grpSpPr>
        <p:pic>
          <p:nvPicPr>
            <p:cNvPr id="409" name="Google Shape;40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71998" y="1634779"/>
              <a:ext cx="3948599" cy="24400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42"/>
            <p:cNvSpPr txBox="1"/>
            <p:nvPr/>
          </p:nvSpPr>
          <p:spPr>
            <a:xfrm>
              <a:off x="7921650" y="3202200"/>
              <a:ext cx="716400" cy="139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Other</a:t>
              </a:r>
              <a:endParaRPr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11" name="Google Shape;411;p42"/>
          <p:cNvSpPr txBox="1"/>
          <p:nvPr/>
        </p:nvSpPr>
        <p:spPr>
          <a:xfrm>
            <a:off x="799425" y="4215425"/>
            <a:ext cx="22476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16s Abundance (phylum)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2" name="Google Shape;412;p42"/>
          <p:cNvSpPr txBox="1"/>
          <p:nvPr/>
        </p:nvSpPr>
        <p:spPr>
          <a:xfrm>
            <a:off x="4887091" y="4215425"/>
            <a:ext cx="27300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Metagenomic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Abundance (phylum)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3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Alpha Diversity</a:t>
            </a:r>
            <a:endParaRPr/>
          </a:p>
        </p:txBody>
      </p:sp>
      <p:pic>
        <p:nvPicPr>
          <p:cNvPr id="418" name="Google Shape;418;p43"/>
          <p:cNvPicPr preferRelativeResize="0"/>
          <p:nvPr/>
        </p:nvPicPr>
        <p:blipFill rotWithShape="1">
          <a:blip r:embed="rId3">
            <a:alphaModFix/>
          </a:blip>
          <a:srcRect b="0" l="0" r="55943" t="0"/>
          <a:stretch/>
        </p:blipFill>
        <p:spPr>
          <a:xfrm>
            <a:off x="1115525" y="1704300"/>
            <a:ext cx="2085401" cy="2924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3"/>
          <p:cNvSpPr txBox="1"/>
          <p:nvPr/>
        </p:nvSpPr>
        <p:spPr>
          <a:xfrm>
            <a:off x="2050714" y="1357108"/>
            <a:ext cx="357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16S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Alpha Diversity</a:t>
            </a:r>
            <a:endParaRPr/>
          </a:p>
        </p:txBody>
      </p:sp>
      <p:pic>
        <p:nvPicPr>
          <p:cNvPr id="425" name="Google Shape;425;p44"/>
          <p:cNvPicPr preferRelativeResize="0"/>
          <p:nvPr/>
        </p:nvPicPr>
        <p:blipFill rotWithShape="1">
          <a:blip r:embed="rId3">
            <a:alphaModFix/>
          </a:blip>
          <a:srcRect b="0" l="0" r="55943" t="0"/>
          <a:stretch/>
        </p:blipFill>
        <p:spPr>
          <a:xfrm>
            <a:off x="1115525" y="1704300"/>
            <a:ext cx="2085401" cy="2924949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4"/>
          <p:cNvSpPr txBox="1"/>
          <p:nvPr/>
        </p:nvSpPr>
        <p:spPr>
          <a:xfrm>
            <a:off x="2050714" y="1357108"/>
            <a:ext cx="357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16S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27" name="Google Shape;427;p44"/>
          <p:cNvPicPr preferRelativeResize="0"/>
          <p:nvPr/>
        </p:nvPicPr>
        <p:blipFill rotWithShape="1">
          <a:blip r:embed="rId4">
            <a:alphaModFix/>
          </a:blip>
          <a:srcRect b="0" l="0" r="56476" t="0"/>
          <a:stretch/>
        </p:blipFill>
        <p:spPr>
          <a:xfrm>
            <a:off x="4572000" y="1707300"/>
            <a:ext cx="2055875" cy="2918926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4"/>
          <p:cNvSpPr txBox="1"/>
          <p:nvPr/>
        </p:nvSpPr>
        <p:spPr>
          <a:xfrm>
            <a:off x="5337350" y="1322400"/>
            <a:ext cx="357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Metagenomic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5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Alpha Diversity</a:t>
            </a:r>
            <a:endParaRPr/>
          </a:p>
        </p:txBody>
      </p:sp>
      <p:pic>
        <p:nvPicPr>
          <p:cNvPr id="434" name="Google Shape;434;p45"/>
          <p:cNvPicPr preferRelativeResize="0"/>
          <p:nvPr/>
        </p:nvPicPr>
        <p:blipFill rotWithShape="1">
          <a:blip r:embed="rId3">
            <a:alphaModFix/>
          </a:blip>
          <a:srcRect b="0" l="0" r="55943" t="0"/>
          <a:stretch/>
        </p:blipFill>
        <p:spPr>
          <a:xfrm>
            <a:off x="1115525" y="1704300"/>
            <a:ext cx="2085401" cy="292494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5"/>
          <p:cNvSpPr txBox="1"/>
          <p:nvPr/>
        </p:nvSpPr>
        <p:spPr>
          <a:xfrm>
            <a:off x="2050714" y="1357108"/>
            <a:ext cx="357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16S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6" name="Google Shape;436;p45"/>
          <p:cNvPicPr preferRelativeResize="0"/>
          <p:nvPr/>
        </p:nvPicPr>
        <p:blipFill rotWithShape="1">
          <a:blip r:embed="rId4">
            <a:alphaModFix/>
          </a:blip>
          <a:srcRect b="0" l="0" r="56476" t="0"/>
          <a:stretch/>
        </p:blipFill>
        <p:spPr>
          <a:xfrm>
            <a:off x="4572000" y="1707300"/>
            <a:ext cx="2055875" cy="2918926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5"/>
          <p:cNvSpPr txBox="1"/>
          <p:nvPr/>
        </p:nvSpPr>
        <p:spPr>
          <a:xfrm>
            <a:off x="5337350" y="1322400"/>
            <a:ext cx="357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Metagenomic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" name="Google Shape;438;p45"/>
          <p:cNvSpPr txBox="1"/>
          <p:nvPr/>
        </p:nvSpPr>
        <p:spPr>
          <a:xfrm>
            <a:off x="554000" y="4527975"/>
            <a:ext cx="737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Metagenomic approach captures more diversity 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Metagenomic captures some fungal and viral components - so this makes sense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Beta Diversity</a:t>
            </a:r>
            <a:endParaRPr/>
          </a:p>
        </p:txBody>
      </p:sp>
      <p:pic>
        <p:nvPicPr>
          <p:cNvPr id="444" name="Google Shape;44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75" y="1726086"/>
            <a:ext cx="4305761" cy="266073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6"/>
          <p:cNvSpPr txBox="1"/>
          <p:nvPr/>
        </p:nvSpPr>
        <p:spPr>
          <a:xfrm>
            <a:off x="400375" y="1496375"/>
            <a:ext cx="4016700" cy="38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PCoA of Bray-Curtis Dissimilarity - 16S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7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Beta Diversity</a:t>
            </a:r>
            <a:endParaRPr/>
          </a:p>
        </p:txBody>
      </p:sp>
      <p:pic>
        <p:nvPicPr>
          <p:cNvPr id="451" name="Google Shape;45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75" y="1726086"/>
            <a:ext cx="4305761" cy="2660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5538" y="1674861"/>
            <a:ext cx="4305761" cy="2660737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7"/>
          <p:cNvSpPr txBox="1"/>
          <p:nvPr/>
        </p:nvSpPr>
        <p:spPr>
          <a:xfrm>
            <a:off x="400375" y="1496375"/>
            <a:ext cx="4016700" cy="38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PCoA of Bray-Curtis Dissimilarity - 16S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4" name="Google Shape;454;p47"/>
          <p:cNvSpPr txBox="1"/>
          <p:nvPr/>
        </p:nvSpPr>
        <p:spPr>
          <a:xfrm>
            <a:off x="5004600" y="1496375"/>
            <a:ext cx="4016700" cy="38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PCoA of Bray-Curtis Dissimilarity - Metagenomic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8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Beta Diversity</a:t>
            </a:r>
            <a:endParaRPr/>
          </a:p>
        </p:txBody>
      </p:sp>
      <p:pic>
        <p:nvPicPr>
          <p:cNvPr id="460" name="Google Shape;46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75" y="1726086"/>
            <a:ext cx="4305761" cy="2660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5538" y="1674861"/>
            <a:ext cx="4305761" cy="2660737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8"/>
          <p:cNvSpPr txBox="1"/>
          <p:nvPr/>
        </p:nvSpPr>
        <p:spPr>
          <a:xfrm>
            <a:off x="400375" y="1496375"/>
            <a:ext cx="4016700" cy="38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PCoA of Bray-Curtis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Dissimilarity - 16S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" name="Google Shape;463;p48"/>
          <p:cNvSpPr txBox="1"/>
          <p:nvPr/>
        </p:nvSpPr>
        <p:spPr>
          <a:xfrm>
            <a:off x="5004600" y="1496375"/>
            <a:ext cx="4016700" cy="38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PCoA of Bray-Curtis Dissimilarity - Metagenomic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4" name="Google Shape;464;p48"/>
          <p:cNvSpPr txBox="1"/>
          <p:nvPr/>
        </p:nvSpPr>
        <p:spPr>
          <a:xfrm>
            <a:off x="1066100" y="4691850"/>
            <a:ext cx="589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Without statistics it is hard to say - could be a sample size effect as well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9"/>
          <p:cNvSpPr txBox="1"/>
          <p:nvPr>
            <p:ph type="title"/>
          </p:nvPr>
        </p:nvSpPr>
        <p:spPr>
          <a:xfrm>
            <a:off x="823850" y="2053000"/>
            <a:ext cx="60942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Metagenomic sequencing: a more robust capture of diversity present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0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475" name="Google Shape;475;p5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Exact </a:t>
            </a:r>
            <a:r>
              <a:rPr lang="en"/>
              <a:t>pipeline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Working with the full dataset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Replicate analysis with another dataset for more robust comparison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1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481" name="Google Shape;481;p5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Documentation issues!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Incomplete datasets uploaded!!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Bad for rigor and reproducibility!!!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2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487" name="Google Shape;487;p5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3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Attribute image sources here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000000"/>
      </a:lt1>
      <a:dk2>
        <a:srgbClr val="000000"/>
      </a:dk2>
      <a:lt2>
        <a:srgbClr val="000000"/>
      </a:lt2>
      <a:accent1>
        <a:srgbClr val="DABF24"/>
      </a:accent1>
      <a:accent2>
        <a:srgbClr val="DABF24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